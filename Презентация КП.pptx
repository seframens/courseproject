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AA0DB-288B-4842-89BD-695CD032794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C8C60-DCD8-4452-8D8C-5F3C70098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08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AA0DB-288B-4842-89BD-695CD032794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C8C60-DCD8-4452-8D8C-5F3C70098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08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AA0DB-288B-4842-89BD-695CD032794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C8C60-DCD8-4452-8D8C-5F3C70098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77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AA0DB-288B-4842-89BD-695CD032794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C8C60-DCD8-4452-8D8C-5F3C70098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35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AA0DB-288B-4842-89BD-695CD032794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C8C60-DCD8-4452-8D8C-5F3C70098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08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AA0DB-288B-4842-89BD-695CD032794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C8C60-DCD8-4452-8D8C-5F3C70098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96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AA0DB-288B-4842-89BD-695CD032794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C8C60-DCD8-4452-8D8C-5F3C70098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665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AA0DB-288B-4842-89BD-695CD032794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C8C60-DCD8-4452-8D8C-5F3C70098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22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AA0DB-288B-4842-89BD-695CD032794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C8C60-DCD8-4452-8D8C-5F3C70098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61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AA0DB-288B-4842-89BD-695CD032794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C8C60-DCD8-4452-8D8C-5F3C70098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67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AA0DB-288B-4842-89BD-695CD032794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C8C60-DCD8-4452-8D8C-5F3C70098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897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AA0DB-288B-4842-89BD-695CD032794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C8C60-DCD8-4452-8D8C-5F3C70098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69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42160" y="-597131"/>
            <a:ext cx="8107680" cy="2105112"/>
          </a:xfrm>
        </p:spPr>
        <p:txBody>
          <a:bodyPr>
            <a:normAutofit/>
          </a:bodyPr>
          <a:lstStyle/>
          <a:p>
            <a:r>
              <a:rPr lang="ru-RU" sz="1400" dirty="0" smtClean="0"/>
              <a:t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</a:t>
            </a:r>
            <a:r>
              <a:rPr lang="ru-RU" sz="1400" dirty="0" err="1" smtClean="0"/>
              <a:t>СПбГУТ</a:t>
            </a:r>
            <a:r>
              <a:rPr lang="ru-RU" sz="1400" dirty="0" smtClean="0"/>
              <a:t>) АРХАНГЕЛЬСКИЙ КОЛЛЕДЖ ТЕЛЕКОММУНИКАЦИЙ ИМ. Б.Л. РОЗИНГА (ФИЛИАЛ) </a:t>
            </a:r>
            <a:r>
              <a:rPr lang="ru-RU" sz="1400" dirty="0" err="1" smtClean="0"/>
              <a:t>СПбГУТ</a:t>
            </a:r>
            <a:r>
              <a:rPr lang="ru-RU" sz="1400" dirty="0" smtClean="0"/>
              <a:t> (АКТ (ф) </a:t>
            </a:r>
            <a:r>
              <a:rPr lang="ru-RU" sz="1400" dirty="0" err="1" smtClean="0"/>
              <a:t>СПбГУТ</a:t>
            </a:r>
            <a:r>
              <a:rPr lang="ru-RU" sz="1400" dirty="0" smtClean="0"/>
              <a:t>)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354783"/>
            <a:ext cx="9144000" cy="1655762"/>
          </a:xfrm>
        </p:spPr>
        <p:txBody>
          <a:bodyPr/>
          <a:lstStyle/>
          <a:p>
            <a:r>
              <a:rPr lang="ru-RU" sz="4000" dirty="0" smtClean="0"/>
              <a:t>КУРСОВОЙ ПРОЕКТ</a:t>
            </a:r>
          </a:p>
          <a:p>
            <a:r>
              <a:rPr lang="ru-RU" dirty="0" smtClean="0"/>
              <a:t>РАЗРАБОТКА ПОДСИСТЕМЫ «ИНТИ. УЧЁТ ПРОЕКТОВ»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52424" y="453418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Студент группы ИСПП-21: Клюшанов Кирилл Станиславович Руководитель: </a:t>
            </a:r>
            <a:r>
              <a:rPr lang="ru-RU" dirty="0" err="1" smtClean="0"/>
              <a:t>Маломан</a:t>
            </a:r>
            <a:r>
              <a:rPr lang="ru-RU" dirty="0" smtClean="0"/>
              <a:t> Юлия Сергеевна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463443" y="6406634"/>
            <a:ext cx="19699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Архангельск 2025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222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Автоматизации процессов управления проектами. Ручной ввод данных, ведение учёта в электронных таблицах или бумажных журналах замедляет процессы, увеличивает риск ошибок и затрудняет аналитику.</a:t>
            </a:r>
          </a:p>
          <a:p>
            <a:r>
              <a:rPr lang="ru-RU" dirty="0"/>
              <a:t>Повышения эффективности и прозрачности. Централизованное хранение данных, возможность фильтрации, поиска и отображения информации в удобном виде позволяет менеджерам и администраторам быстрее принимать решения и контролировать исполнение.</a:t>
            </a:r>
          </a:p>
          <a:p>
            <a:r>
              <a:rPr lang="ru-RU" dirty="0"/>
              <a:t>Модернизации существующих устаревших методов учёта. Замена бумажного или </a:t>
            </a:r>
            <a:r>
              <a:rPr lang="ru-RU" dirty="0" err="1"/>
              <a:t>полуручного</a:t>
            </a:r>
            <a:r>
              <a:rPr lang="ru-RU" dirty="0"/>
              <a:t> учёта на цифровую систему с единым источником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964706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73331"/>
            <a:ext cx="10515600" cy="1325563"/>
          </a:xfrm>
        </p:spPr>
        <p:txBody>
          <a:bodyPr/>
          <a:lstStyle/>
          <a:p>
            <a:r>
              <a:rPr lang="ru-RU" dirty="0" smtClean="0"/>
              <a:t>ЦЕЛЕВАЯ АУДИТОРИЯ</a:t>
            </a:r>
            <a:endParaRPr lang="ru-RU" dirty="0"/>
          </a:p>
        </p:txBody>
      </p:sp>
      <p:pic>
        <p:nvPicPr>
          <p:cNvPr id="1026" name="Picture 2" descr="Молодой деловой человек за столом перед компьютером и мобильным телефоном.  | Премиум фото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550" y="1557338"/>
            <a:ext cx="5638800" cy="3756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71450" y="579626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0" i="0" dirty="0" smtClean="0">
                <a:effectLst/>
                <a:latin typeface="system-ui"/>
              </a:rPr>
              <a:t>Целевая аудитория — это сотрудники компании, участвующие в управлении проектами.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991225" y="567421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system-ui"/>
              </a:rPr>
              <a:t>П</a:t>
            </a:r>
            <a:r>
              <a:rPr lang="ru-RU" b="0" i="0" dirty="0" smtClean="0">
                <a:effectLst/>
                <a:latin typeface="system-ui"/>
              </a:rPr>
              <a:t>ользователи — это взрослые люди, работающие в сфере, связанной с проектной деятельностью (инженеры, менеджеры, администраторы).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061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08175"/>
          </a:xfrm>
        </p:spPr>
        <p:txBody>
          <a:bodyPr/>
          <a:lstStyle/>
          <a:p>
            <a:r>
              <a:rPr lang="ru-RU" dirty="0" smtClean="0"/>
              <a:t>Разработать </a:t>
            </a:r>
            <a:r>
              <a:rPr lang="ru-RU" dirty="0"/>
              <a:t>клиент-серверную подсистему управления проектами, предназначенную для автоматизации учёта</a:t>
            </a:r>
            <a:r>
              <a:rPr lang="ru-RU" dirty="0" smtClean="0"/>
              <a:t>, редактировании, </a:t>
            </a:r>
            <a:r>
              <a:rPr lang="ru-RU" dirty="0"/>
              <a:t>фильтрации, поиска и отображения информации о проектах, их руководителях и статусах.</a:t>
            </a:r>
          </a:p>
        </p:txBody>
      </p:sp>
      <p:pic>
        <p:nvPicPr>
          <p:cNvPr id="2050" name="Picture 2" descr="Деловые люди пожимают друг другу руки в офисе Деловые люди пожимают друг  другу руки на белом фоне | Премиум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0" y="3662985"/>
            <a:ext cx="4696260" cy="312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724275" y="4662397"/>
            <a:ext cx="12953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Клиент</a:t>
            </a:r>
            <a:endParaRPr lang="ru-RU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096000" y="4477732"/>
            <a:ext cx="271321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8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Сервер</a:t>
            </a:r>
            <a:endParaRPr lang="ru-RU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39100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ru-RU" dirty="0"/>
              <a:t>проанализировать предметную область</a:t>
            </a:r>
            <a:r>
              <a:rPr lang="en-US" dirty="0"/>
              <a:t>;</a:t>
            </a:r>
            <a:endParaRPr lang="ru-RU" dirty="0"/>
          </a:p>
          <a:p>
            <a:pPr lvl="0"/>
            <a:r>
              <a:rPr lang="ru-RU" dirty="0"/>
              <a:t>определить требования к разрабатываемому программному средству;</a:t>
            </a:r>
          </a:p>
          <a:p>
            <a:pPr lvl="0"/>
            <a:r>
              <a:rPr lang="ru-RU" dirty="0"/>
              <a:t>спроектировать архитектуру системы, включающую серверную часть, базу данных и клиентское оконное приложение;</a:t>
            </a:r>
          </a:p>
          <a:p>
            <a:pPr lvl="0"/>
            <a:r>
              <a:rPr lang="ru-RU" dirty="0"/>
              <a:t>реализовать серверную часть, обеспечивающую выполнение бизнес-логики приложения и разграничение прав доступа;</a:t>
            </a:r>
          </a:p>
          <a:p>
            <a:pPr lvl="0"/>
            <a:r>
              <a:rPr lang="ru-RU" dirty="0"/>
              <a:t>разработать оконное приложение для менеджеров компании;</a:t>
            </a:r>
          </a:p>
          <a:p>
            <a:pPr lvl="0"/>
            <a:r>
              <a:rPr lang="ru-RU" dirty="0"/>
              <a:t>обеспечить удобство взаимодействия пользователя с приложением за счёт оптимизации навигации и логики интерфейса;</a:t>
            </a:r>
          </a:p>
          <a:p>
            <a:pPr lvl="0"/>
            <a:r>
              <a:rPr lang="ru-RU" dirty="0"/>
              <a:t>провести тестирование функциональности программного продукта.</a:t>
            </a:r>
          </a:p>
        </p:txBody>
      </p:sp>
      <p:pic>
        <p:nvPicPr>
          <p:cNvPr id="3074" name="Picture 2" descr="Думает эмодзи 🤔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2575" y="166687"/>
            <a:ext cx="1524000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414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467475" cy="1325563"/>
          </a:xfrm>
        </p:spPr>
        <p:txBody>
          <a:bodyPr/>
          <a:lstStyle/>
          <a:p>
            <a:r>
              <a:rPr lang="ru-RU" dirty="0" smtClean="0"/>
              <a:t>СРЕДСТВА РАЗРАБОТКИ</a:t>
            </a:r>
            <a:endParaRPr lang="ru-RU" dirty="0"/>
          </a:p>
        </p:txBody>
      </p:sp>
      <p:pic>
        <p:nvPicPr>
          <p:cNvPr id="4098" name="Picture 2" descr="Архивы C# | ИТ Блог. Администрирование серверов на основе Linux (Ubuntu,  Debian, CentOS, openSUSE)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2555448"/>
            <a:ext cx="2027186" cy="227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fastapi · PyP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7425" y="1690688"/>
            <a:ext cx="5235575" cy="188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ython (programming language) - Wikipedi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863" y="3218016"/>
            <a:ext cx="1407754" cy="1407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PostgreSQL — Википедия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3944" y="2453224"/>
            <a:ext cx="2180721" cy="224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3957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4850" y="193675"/>
            <a:ext cx="10515600" cy="1325563"/>
          </a:xfrm>
        </p:spPr>
        <p:txBody>
          <a:bodyPr/>
          <a:lstStyle/>
          <a:p>
            <a:r>
              <a:rPr lang="ru-RU" dirty="0" smtClean="0"/>
              <a:t>АРХИТЕКТУРА СИСТЕМЫ</a:t>
            </a:r>
            <a:endParaRPr lang="ru-RU" dirty="0"/>
          </a:p>
        </p:txBody>
      </p:sp>
      <p:pic>
        <p:nvPicPr>
          <p:cNvPr id="4" name="Рисунок 3" descr="C:\Users\KKlyu\Downloads\Wireframe-Страница-3.drawi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1262" y="1690688"/>
            <a:ext cx="4278313" cy="44396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202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ПРЕИМУЩЕСТВА/ОСОБЕННОСТИ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6700" y="1800225"/>
            <a:ext cx="6515100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Централизованное хранение данных: Вся информация о проектах в одной базе данных.</a:t>
            </a:r>
          </a:p>
          <a:p>
            <a:r>
              <a:rPr lang="ru-RU" dirty="0"/>
              <a:t>Удобный графический интерфейс: Позволяет легко просматривать, создавать, редактировать и удалять проекты.</a:t>
            </a:r>
          </a:p>
          <a:p>
            <a:r>
              <a:rPr lang="ru-RU" dirty="0"/>
              <a:t>Фильтрация и поиск: Позволяют быстро находить нужные проекты.</a:t>
            </a:r>
          </a:p>
          <a:p>
            <a:r>
              <a:rPr lang="ru-RU" dirty="0"/>
              <a:t>Разграничение прав доступа: Повышает безопасность.</a:t>
            </a:r>
          </a:p>
          <a:p>
            <a:r>
              <a:rPr lang="ru-RU" dirty="0"/>
              <a:t>Импорт/Экспорт данных: Упрощает работу с данными (CSV, PDF).</a:t>
            </a:r>
          </a:p>
          <a:p>
            <a:r>
              <a:rPr lang="ru-RU" dirty="0"/>
              <a:t>Пагинация: Обеспечивает комфортное отображение большого количества проектов.</a:t>
            </a:r>
          </a:p>
          <a:p>
            <a:r>
              <a:rPr lang="ru-RU" dirty="0"/>
              <a:t>Снижение рутинных операций: Автоматизация процессов уменьшает время на учёт и минимизирует ошибки.</a:t>
            </a:r>
          </a:p>
          <a:p>
            <a:endParaRPr lang="ru-RU" dirty="0"/>
          </a:p>
        </p:txBody>
      </p:sp>
      <p:pic>
        <p:nvPicPr>
          <p:cNvPr id="5122" name="Picture 2" descr="Книга для тех, кто устал работать. Актуальная новинка для зимнего периода -  Новости - Литература - РЕВИЗОР.РУ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776" y="2408837"/>
            <a:ext cx="4698678" cy="276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Знак безопасности Запрещение (прочие опасности или опасные действия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187" y="1823939"/>
            <a:ext cx="3929856" cy="3929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363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Поставленные цели и задачи были достигнуты</a:t>
            </a:r>
            <a:endParaRPr lang="ru-RU" dirty="0"/>
          </a:p>
        </p:txBody>
      </p:sp>
      <p:pic>
        <p:nvPicPr>
          <p:cNvPr id="6148" name="Picture 4" descr="Что означает correct? | Англо-русский словарь Lingola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75" y="2692400"/>
            <a:ext cx="4591710" cy="37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50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42160" y="-597131"/>
            <a:ext cx="8107680" cy="2105112"/>
          </a:xfrm>
        </p:spPr>
        <p:txBody>
          <a:bodyPr>
            <a:normAutofit/>
          </a:bodyPr>
          <a:lstStyle/>
          <a:p>
            <a:r>
              <a:rPr lang="ru-RU" sz="1400" dirty="0" smtClean="0"/>
              <a:t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</a:t>
            </a:r>
            <a:r>
              <a:rPr lang="ru-RU" sz="1400" dirty="0" err="1" smtClean="0"/>
              <a:t>СПбГУТ</a:t>
            </a:r>
            <a:r>
              <a:rPr lang="ru-RU" sz="1400" dirty="0" smtClean="0"/>
              <a:t>) АРХАНГЕЛЬСКИЙ КОЛЛЕДЖ ТЕЛЕКОММУНИКАЦИЙ ИМ. Б.Л. РОЗИНГА (ФИЛИАЛ) </a:t>
            </a:r>
            <a:r>
              <a:rPr lang="ru-RU" sz="1400" dirty="0" err="1" smtClean="0"/>
              <a:t>СПбГУТ</a:t>
            </a:r>
            <a:r>
              <a:rPr lang="ru-RU" sz="1400" dirty="0" smtClean="0"/>
              <a:t> (АКТ (ф) </a:t>
            </a:r>
            <a:r>
              <a:rPr lang="ru-RU" sz="1400" dirty="0" err="1" smtClean="0"/>
              <a:t>СПбГУТ</a:t>
            </a:r>
            <a:r>
              <a:rPr lang="ru-RU" sz="1400" dirty="0" smtClean="0"/>
              <a:t>)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354783"/>
            <a:ext cx="9144000" cy="1655762"/>
          </a:xfrm>
        </p:spPr>
        <p:txBody>
          <a:bodyPr/>
          <a:lstStyle/>
          <a:p>
            <a:r>
              <a:rPr lang="ru-RU" sz="4000" dirty="0" smtClean="0"/>
              <a:t>КУРСОВОЙ ПРОЕКТ</a:t>
            </a:r>
          </a:p>
          <a:p>
            <a:r>
              <a:rPr lang="ru-RU" dirty="0" smtClean="0"/>
              <a:t>РАЗРАБОТКА ПОДСИСТЕМЫ «ИНТИ. УЧЁТ ПРОЕКТОВ»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52424" y="453418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Студент группы ИСПП-21: Клюшанов Кирилл Станиславович Руководитель: </a:t>
            </a:r>
            <a:r>
              <a:rPr lang="ru-RU" dirty="0" err="1" smtClean="0"/>
              <a:t>Маломан</a:t>
            </a:r>
            <a:r>
              <a:rPr lang="ru-RU" dirty="0" smtClean="0"/>
              <a:t> Юлия Сергеевна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463443" y="6406634"/>
            <a:ext cx="19699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Архангельск 2025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6242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436</Words>
  <Application>Microsoft Office PowerPoint</Application>
  <PresentationFormat>Широкоэкранный</PresentationFormat>
  <Paragraphs>41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system-ui</vt:lpstr>
      <vt:lpstr>Times New Roman</vt:lpstr>
      <vt:lpstr>Тема Office</vt:lpstr>
      <vt:lpstr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  </vt:lpstr>
      <vt:lpstr>АКТУАЛЬНОСТЬ</vt:lpstr>
      <vt:lpstr>ЦЕЛЕВАЯ АУДИТОРИЯ</vt:lpstr>
      <vt:lpstr>ЦЕЛЬ</vt:lpstr>
      <vt:lpstr>ЗАДАЧИ</vt:lpstr>
      <vt:lpstr>СРЕДСТВА РАЗРАБОТКИ</vt:lpstr>
      <vt:lpstr>АРХИТЕКТУРА СИСТЕМЫ</vt:lpstr>
      <vt:lpstr>ПРЕИМУЩЕСТВА/ОСОБЕННОСТИ ПРОЕКТА</vt:lpstr>
      <vt:lpstr>ЗАКЛЮЧЕНИЕ</vt:lpstr>
      <vt:lpstr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 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</dc:title>
  <dc:creator>кирилл клюшанов</dc:creator>
  <cp:lastModifiedBy>кирилл клюшанов</cp:lastModifiedBy>
  <cp:revision>3</cp:revision>
  <dcterms:created xsi:type="dcterms:W3CDTF">2025-12-09T22:29:54Z</dcterms:created>
  <dcterms:modified xsi:type="dcterms:W3CDTF">2025-12-09T22:42:21Z</dcterms:modified>
</cp:coreProperties>
</file>